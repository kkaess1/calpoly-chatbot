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92" r:id="rId7"/>
    <p:sldId id="281" r:id="rId8"/>
    <p:sldId id="285" r:id="rId9"/>
    <p:sldId id="297" r:id="rId10"/>
    <p:sldId id="298" r:id="rId11"/>
    <p:sldId id="263" r:id="rId12"/>
    <p:sldId id="265" r:id="rId13"/>
    <p:sldId id="299" r:id="rId14"/>
    <p:sldId id="267" r:id="rId15"/>
  </p:sldIdLst>
  <p:sldSz cx="12192000" cy="6858000"/>
  <p:notesSz cx="6858000" cy="9144000"/>
  <p:custDataLst>
    <p:tags r:id="rId1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336666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37"/>
    <a:srgbClr val="000000"/>
    <a:srgbClr val="AA9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DDECEC"/>
          </a:solidFill>
        </a:fill>
      </a:tcStyle>
    </a:wholeTbl>
    <a:band2H>
      <a:tcTxStyle/>
      <a:tcStyle>
        <a:tcBdr/>
        <a:fill>
          <a:solidFill>
            <a:srgbClr val="EFF6F6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2">
              <a:lumOff val="9999"/>
            </a:schemeClr>
          </a:solidFill>
        </a:fill>
      </a:tcStyle>
    </a:wholeTbl>
    <a:band2H>
      <a:tcTxStyle/>
      <a:tcStyle>
        <a:tcBdr/>
        <a:fill>
          <a:solidFill>
            <a:srgbClr val="F3F3F3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AEA"/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336666"/>
        </a:fontRef>
        <a:srgbClr val="336666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336666"/>
              </a:solidFill>
              <a:prstDash val="solid"/>
              <a:round/>
            </a:ln>
          </a:top>
          <a:bottom>
            <a:ln w="254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336666"/>
              </a:solidFill>
              <a:prstDash val="solid"/>
              <a:round/>
            </a:ln>
          </a:top>
          <a:bottom>
            <a:ln w="254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CCD2D2"/>
          </a:solidFill>
        </a:fill>
      </a:tcStyle>
    </a:wholeTbl>
    <a:band2H>
      <a:tcTxStyle/>
      <a:tcStyle>
        <a:tcBdr/>
        <a:fill>
          <a:solidFill>
            <a:srgbClr val="E7EAEA"/>
          </a:solidFill>
        </a:fill>
      </a:tcStyle>
    </a:band2H>
    <a:firstCol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336666"/>
          </a:solidFill>
        </a:fill>
      </a:tcStyle>
    </a:firstCol>
    <a:la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336666"/>
          </a:solidFill>
        </a:fill>
      </a:tcStyle>
    </a:lastRow>
    <a:firstRow>
      <a:tcTxStyle b="on" i="off">
        <a:fontRef idx="major">
          <a:schemeClr val="accent3">
            <a:lumOff val="44000"/>
          </a:schemeClr>
        </a:fontRef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336666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rgbClr val="336666"/>
              </a:solidFill>
              <a:prstDash val="solid"/>
              <a:round/>
            </a:ln>
          </a:left>
          <a:right>
            <a:ln w="12700" cap="flat">
              <a:solidFill>
                <a:srgbClr val="336666"/>
              </a:solidFill>
              <a:prstDash val="solid"/>
              <a:round/>
            </a:ln>
          </a:right>
          <a:top>
            <a:ln w="12700" cap="flat">
              <a:solidFill>
                <a:srgbClr val="336666"/>
              </a:solidFill>
              <a:prstDash val="solid"/>
              <a:round/>
            </a:ln>
          </a:top>
          <a:bottom>
            <a:ln w="127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solidFill>
                <a:srgbClr val="336666"/>
              </a:solidFill>
              <a:prstDash val="solid"/>
              <a:round/>
            </a:ln>
          </a:insideH>
          <a:insideV>
            <a:ln w="12700" cap="flat">
              <a:solidFill>
                <a:srgbClr val="336666"/>
              </a:solidFill>
              <a:prstDash val="solid"/>
              <a:round/>
            </a:ln>
          </a:insideV>
        </a:tcBdr>
        <a:fill>
          <a:solidFill>
            <a:srgbClr val="336666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rgbClr val="336666"/>
              </a:solidFill>
              <a:prstDash val="solid"/>
              <a:round/>
            </a:ln>
          </a:left>
          <a:right>
            <a:ln w="12700" cap="flat">
              <a:solidFill>
                <a:srgbClr val="336666"/>
              </a:solidFill>
              <a:prstDash val="solid"/>
              <a:round/>
            </a:ln>
          </a:right>
          <a:top>
            <a:ln w="12700" cap="flat">
              <a:solidFill>
                <a:srgbClr val="336666"/>
              </a:solidFill>
              <a:prstDash val="solid"/>
              <a:round/>
            </a:ln>
          </a:top>
          <a:bottom>
            <a:ln w="127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solidFill>
                <a:srgbClr val="336666"/>
              </a:solidFill>
              <a:prstDash val="solid"/>
              <a:round/>
            </a:ln>
          </a:insideH>
          <a:insideV>
            <a:ln w="12700" cap="flat">
              <a:solidFill>
                <a:srgbClr val="336666"/>
              </a:solidFill>
              <a:prstDash val="solid"/>
              <a:round/>
            </a:ln>
          </a:insideV>
        </a:tcBdr>
        <a:fill>
          <a:solidFill>
            <a:srgbClr val="336666">
              <a:alpha val="20000"/>
            </a:srgbClr>
          </a:solidFill>
        </a:fill>
      </a:tcStyle>
    </a:firstCol>
    <a:lastRow>
      <a:tcTxStyle b="on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rgbClr val="336666"/>
              </a:solidFill>
              <a:prstDash val="solid"/>
              <a:round/>
            </a:ln>
          </a:left>
          <a:right>
            <a:ln w="12700" cap="flat">
              <a:solidFill>
                <a:srgbClr val="336666"/>
              </a:solidFill>
              <a:prstDash val="solid"/>
              <a:round/>
            </a:ln>
          </a:right>
          <a:top>
            <a:ln w="50800" cap="flat">
              <a:solidFill>
                <a:srgbClr val="336666"/>
              </a:solidFill>
              <a:prstDash val="solid"/>
              <a:round/>
            </a:ln>
          </a:top>
          <a:bottom>
            <a:ln w="127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solidFill>
                <a:srgbClr val="336666"/>
              </a:solidFill>
              <a:prstDash val="solid"/>
              <a:round/>
            </a:ln>
          </a:insideH>
          <a:insideV>
            <a:ln w="12700" cap="flat">
              <a:solidFill>
                <a:srgbClr val="33666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336666"/>
        </a:fontRef>
        <a:srgbClr val="336666"/>
      </a:tcTxStyle>
      <a:tcStyle>
        <a:tcBdr>
          <a:left>
            <a:ln w="12700" cap="flat">
              <a:solidFill>
                <a:srgbClr val="336666"/>
              </a:solidFill>
              <a:prstDash val="solid"/>
              <a:round/>
            </a:ln>
          </a:left>
          <a:right>
            <a:ln w="12700" cap="flat">
              <a:solidFill>
                <a:srgbClr val="336666"/>
              </a:solidFill>
              <a:prstDash val="solid"/>
              <a:round/>
            </a:ln>
          </a:right>
          <a:top>
            <a:ln w="12700" cap="flat">
              <a:solidFill>
                <a:srgbClr val="336666"/>
              </a:solidFill>
              <a:prstDash val="solid"/>
              <a:round/>
            </a:ln>
          </a:top>
          <a:bottom>
            <a:ln w="25400" cap="flat">
              <a:solidFill>
                <a:srgbClr val="336666"/>
              </a:solidFill>
              <a:prstDash val="solid"/>
              <a:round/>
            </a:ln>
          </a:bottom>
          <a:insideH>
            <a:ln w="12700" cap="flat">
              <a:solidFill>
                <a:srgbClr val="336666"/>
              </a:solidFill>
              <a:prstDash val="solid"/>
              <a:round/>
            </a:ln>
          </a:insideH>
          <a:insideV>
            <a:ln w="12700" cap="flat">
              <a:solidFill>
                <a:srgbClr val="336666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Shape 28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5" name="Shape 28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j-lt"/>
        <a:ea typeface="+mj-ea"/>
        <a:cs typeface="+mj-cs"/>
        <a:sym typeface="Arial"/>
      </a:defRPr>
    </a:lvl1pPr>
    <a:lvl2pPr indent="228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2pPr>
    <a:lvl3pPr indent="457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3pPr>
    <a:lvl4pPr indent="685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4pPr>
    <a:lvl5pPr indent="9144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5pPr>
    <a:lvl6pPr indent="11430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6pPr>
    <a:lvl7pPr indent="13716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7pPr>
    <a:lvl8pPr indent="16002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8pPr>
    <a:lvl9pPr indent="1828800" latinLnBrk="0">
      <a:spcBef>
        <a:spcPts val="400"/>
      </a:spcBef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576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Marketing Analytics at Neustar</a:t>
            </a:r>
          </a:p>
          <a:p>
            <a:r>
              <a:rPr dirty="0"/>
              <a:t>Consultant for Booz Allen</a:t>
            </a:r>
          </a:p>
          <a:p>
            <a:r>
              <a:rPr dirty="0"/>
              <a:t>Sport Analytics at New York Jets (NFL)</a:t>
            </a:r>
          </a:p>
          <a:p>
            <a:r>
              <a:rPr dirty="0"/>
              <a:t>Data Science at Story Fit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"/>
          <p:cNvSpPr/>
          <p:nvPr/>
        </p:nvSpPr>
        <p:spPr>
          <a:xfrm>
            <a:off x="-50800" y="6535869"/>
            <a:ext cx="12293600" cy="382644"/>
          </a:xfrm>
          <a:prstGeom prst="rect">
            <a:avLst/>
          </a:prstGeom>
          <a:solidFill>
            <a:srgbClr val="C4922C"/>
          </a:solidFill>
          <a:ln w="12700">
            <a:miter lim="400000"/>
          </a:ln>
          <a:effectLst>
            <a:reflection stA="50000" endPos="40000" dir="5400000" sy="-100000" algn="bl" rotWithShape="0"/>
          </a:effectLst>
        </p:spPr>
        <p:txBody>
          <a:bodyPr lIns="45719" rIns="45719"/>
          <a:lstStyle/>
          <a:p>
            <a:endParaRPr sz="1800"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946400" y="6248400"/>
            <a:ext cx="310339" cy="30777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custDataLst>
      <p:tags r:id="rId1"/>
    </p:custData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xfrm>
            <a:off x="2032000" y="1905000"/>
            <a:ext cx="93472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Rectangle"/>
          <p:cNvSpPr/>
          <p:nvPr/>
        </p:nvSpPr>
        <p:spPr>
          <a:xfrm>
            <a:off x="-50800" y="6535869"/>
            <a:ext cx="12293600" cy="382644"/>
          </a:xfrm>
          <a:prstGeom prst="rect">
            <a:avLst/>
          </a:prstGeom>
          <a:solidFill>
            <a:srgbClr val="C4922C"/>
          </a:solidFill>
          <a:ln w="12700">
            <a:miter lim="400000"/>
          </a:ln>
          <a:effectLst>
            <a:reflection stA="50000" endPos="40000" dir="5400000" sy="-100000" algn="bl" rotWithShape="0"/>
          </a:effectLst>
        </p:spPr>
        <p:txBody>
          <a:bodyPr lIns="45719" rIns="45719"/>
          <a:lstStyle/>
          <a:p>
            <a:endParaRPr sz="1800"/>
          </a:p>
        </p:txBody>
      </p:sp>
      <p:sp>
        <p:nvSpPr>
          <p:cNvPr id="26" name="Line 7"/>
          <p:cNvSpPr/>
          <p:nvPr/>
        </p:nvSpPr>
        <p:spPr>
          <a:xfrm flipV="1">
            <a:off x="3802390" y="416302"/>
            <a:ext cx="1" cy="742719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endParaRPr sz="1800"/>
          </a:p>
        </p:txBody>
      </p:sp>
      <p:pic>
        <p:nvPicPr>
          <p:cNvPr id="27" name="MSBA green.png" descr="MSBA 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43" y="501275"/>
            <a:ext cx="2749291" cy="57277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custDataLst>
      <p:tags r:id="rId1"/>
    </p:custData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ClrTx/>
              <a:buSzTx/>
              <a:buNone/>
              <a:defRPr sz="2000"/>
            </a:lvl1pPr>
            <a:lvl2pPr marL="0" indent="457200">
              <a:spcBef>
                <a:spcPts val="400"/>
              </a:spcBef>
              <a:buClrTx/>
              <a:buSzTx/>
              <a:buNone/>
              <a:defRPr sz="2000"/>
            </a:lvl2pPr>
            <a:lvl3pPr marL="0" indent="914400">
              <a:spcBef>
                <a:spcPts val="400"/>
              </a:spcBef>
              <a:buClrTx/>
              <a:buSzTx/>
              <a:buNone/>
              <a:defRPr sz="2000"/>
            </a:lvl3pPr>
            <a:lvl4pPr marL="0" indent="1371600">
              <a:spcBef>
                <a:spcPts val="400"/>
              </a:spcBef>
              <a:buClrTx/>
              <a:buSzTx/>
              <a:buNone/>
              <a:defRPr sz="2000"/>
            </a:lvl4pPr>
            <a:lvl5pPr marL="0" indent="1828800">
              <a:spcBef>
                <a:spcPts val="400"/>
              </a:spcBef>
              <a:buClrTx/>
              <a:buSzTx/>
              <a:buNone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Rectangle"/>
          <p:cNvSpPr/>
          <p:nvPr/>
        </p:nvSpPr>
        <p:spPr>
          <a:xfrm>
            <a:off x="-50800" y="6535869"/>
            <a:ext cx="12293600" cy="382644"/>
          </a:xfrm>
          <a:prstGeom prst="rect">
            <a:avLst/>
          </a:prstGeom>
          <a:solidFill>
            <a:srgbClr val="C4922C"/>
          </a:solidFill>
          <a:ln w="12700">
            <a:miter lim="400000"/>
          </a:ln>
          <a:effectLst>
            <a:reflection stA="50000" endPos="40000" dir="5400000" sy="-100000" algn="bl" rotWithShape="0"/>
          </a:effectLst>
        </p:spPr>
        <p:txBody>
          <a:bodyPr lIns="45719" rIns="45719"/>
          <a:lstStyle/>
          <a:p>
            <a:endParaRPr sz="1800"/>
          </a:p>
        </p:txBody>
      </p:sp>
      <p:sp>
        <p:nvSpPr>
          <p:cNvPr id="38" name="Line 7"/>
          <p:cNvSpPr/>
          <p:nvPr/>
        </p:nvSpPr>
        <p:spPr>
          <a:xfrm flipV="1">
            <a:off x="3802390" y="416302"/>
            <a:ext cx="1" cy="742719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endParaRPr sz="1800"/>
          </a:p>
        </p:txBody>
      </p:sp>
      <p:pic>
        <p:nvPicPr>
          <p:cNvPr id="39" name="MSBA green.png" descr="MSBA 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43" y="501275"/>
            <a:ext cx="2749291" cy="572770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itle Text"/>
          <p:cNvSpPr txBox="1"/>
          <p:nvPr/>
        </p:nvSpPr>
        <p:spPr>
          <a:xfrm>
            <a:off x="4201948" y="24072"/>
            <a:ext cx="9347201" cy="152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48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sz="4800"/>
              <a:t>Title Text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32000" y="1905000"/>
            <a:ext cx="4572000" cy="4114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itle Text"/>
          <p:cNvSpPr txBox="1"/>
          <p:nvPr/>
        </p:nvSpPr>
        <p:spPr>
          <a:xfrm>
            <a:off x="4201948" y="24072"/>
            <a:ext cx="9347201" cy="152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48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sz="4800"/>
              <a:t>Title Text</a:t>
            </a:r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ClrTx/>
              <a:buSzTx/>
              <a:buNone/>
              <a:defRPr sz="2400" b="1"/>
            </a:lvl1pPr>
            <a:lvl2pPr marL="0" indent="457200">
              <a:spcBef>
                <a:spcPts val="500"/>
              </a:spcBef>
              <a:buClrTx/>
              <a:buSzTx/>
              <a:buNone/>
              <a:defRPr sz="2400" b="1"/>
            </a:lvl2pPr>
            <a:lvl3pPr marL="0" indent="914400">
              <a:spcBef>
                <a:spcPts val="500"/>
              </a:spcBef>
              <a:buClrTx/>
              <a:buSzTx/>
              <a:buNone/>
              <a:defRPr sz="2400" b="1"/>
            </a:lvl3pPr>
            <a:lvl4pPr marL="0" indent="1371600">
              <a:spcBef>
                <a:spcPts val="500"/>
              </a:spcBef>
              <a:buClrTx/>
              <a:buSzTx/>
              <a:buNone/>
              <a:defRPr sz="2400" b="1"/>
            </a:lvl4pPr>
            <a:lvl5pPr marL="0" indent="1828800">
              <a:spcBef>
                <a:spcPts val="500"/>
              </a:spcBef>
              <a:buClrTx/>
              <a:buSz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ClrTx/>
              <a:buSz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ClrTx/>
              <a:buSzTx/>
              <a:buNone/>
              <a:defRPr sz="2400" b="1"/>
            </a:pPr>
            <a:endParaRPr/>
          </a:p>
        </p:txBody>
      </p:sp>
      <p:sp>
        <p:nvSpPr>
          <p:cNvPr id="59" name="Title Text"/>
          <p:cNvSpPr txBox="1"/>
          <p:nvPr/>
        </p:nvSpPr>
        <p:spPr>
          <a:xfrm>
            <a:off x="4201948" y="24072"/>
            <a:ext cx="9347201" cy="152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>
              <a:defRPr sz="48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sz="4800"/>
              <a:t>Title Text</a:t>
            </a:r>
          </a:p>
        </p:txBody>
      </p:sp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68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69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70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87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88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89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90" name="Title Text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91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 marL="783771" indent="-326571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599" y="1435101"/>
            <a:ext cx="4011087" cy="4691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ClrTx/>
              <a:buSzTx/>
              <a:buNone/>
              <a:defRPr sz="1400"/>
            </a:pPr>
            <a:endParaRPr/>
          </a:p>
        </p:txBody>
      </p:sp>
      <p:sp>
        <p:nvSpPr>
          <p:cNvPr id="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01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02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03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105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  <a:lvl2pPr marL="0" indent="457200">
              <a:spcBef>
                <a:spcPts val="300"/>
              </a:spcBef>
              <a:buClrTx/>
              <a:buSz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None/>
              <a:defRPr sz="1400"/>
            </a:lvl3pPr>
            <a:lvl4pPr marL="0" indent="1371600">
              <a:spcBef>
                <a:spcPts val="300"/>
              </a:spcBef>
              <a:buClrTx/>
              <a:buSzTx/>
              <a:buNone/>
              <a:defRPr sz="1400"/>
            </a:lvl4pPr>
            <a:lvl5pPr marL="0" indent="1828800">
              <a:spcBef>
                <a:spcPts val="300"/>
              </a:spcBef>
              <a:buClrTx/>
              <a:buSz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15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16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17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1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32000" y="1905000"/>
            <a:ext cx="45720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0" name="Media Placeholder 3"/>
          <p:cNvSpPr>
            <a:spLocks noGrp="1"/>
          </p:cNvSpPr>
          <p:nvPr>
            <p:ph type="media" sz="half" idx="21"/>
          </p:nvPr>
        </p:nvSpPr>
        <p:spPr>
          <a:xfrm>
            <a:off x="6807200" y="1905000"/>
            <a:ext cx="4572000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Line 7"/>
          <p:cNvSpPr/>
          <p:nvPr/>
        </p:nvSpPr>
        <p:spPr>
          <a:xfrm flipH="1">
            <a:off x="2540001" y="1219200"/>
            <a:ext cx="1" cy="2057400"/>
          </a:xfrm>
          <a:prstGeom prst="line">
            <a:avLst/>
          </a:prstGeom>
          <a:ln w="34925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42" name="Oval 8"/>
          <p:cNvSpPr/>
          <p:nvPr/>
        </p:nvSpPr>
        <p:spPr>
          <a:xfrm>
            <a:off x="218017" y="2103439"/>
            <a:ext cx="463551" cy="347663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43" name="Oval 9"/>
          <p:cNvSpPr/>
          <p:nvPr/>
        </p:nvSpPr>
        <p:spPr>
          <a:xfrm>
            <a:off x="986367" y="2105026"/>
            <a:ext cx="465667" cy="347665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44" name="Oval 10"/>
          <p:cNvSpPr/>
          <p:nvPr/>
        </p:nvSpPr>
        <p:spPr>
          <a:xfrm>
            <a:off x="1756834" y="2105026"/>
            <a:ext cx="463553" cy="347665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45" name="Title Text"/>
          <p:cNvSpPr txBox="1">
            <a:spLocks noGrp="1"/>
          </p:cNvSpPr>
          <p:nvPr>
            <p:ph type="title"/>
          </p:nvPr>
        </p:nvSpPr>
        <p:spPr>
          <a:xfrm>
            <a:off x="2844800" y="1371600"/>
            <a:ext cx="8636000" cy="1752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t>Title Text</a:t>
            </a:r>
          </a:p>
        </p:txBody>
      </p:sp>
      <p:sp>
        <p:nvSpPr>
          <p:cNvPr id="14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844800" y="3733800"/>
            <a:ext cx="8636000" cy="198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ClrTx/>
              <a:buSzTx/>
              <a:buNone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946400" y="6248400"/>
            <a:ext cx="310339" cy="307777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55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56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57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58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59" name="Body Level One…"/>
          <p:cNvSpPr txBox="1">
            <a:spLocks noGrp="1"/>
          </p:cNvSpPr>
          <p:nvPr>
            <p:ph type="body" idx="1"/>
          </p:nvPr>
        </p:nvSpPr>
        <p:spPr>
          <a:xfrm>
            <a:off x="2032000" y="1905000"/>
            <a:ext cx="93472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68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69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70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71" name="Title Text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1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17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400"/>
              </a:spcBef>
              <a:buClrTx/>
              <a:buSzTx/>
              <a:buNone/>
              <a:defRPr sz="2000"/>
            </a:lvl1pPr>
            <a:lvl2pPr marL="0" indent="457200">
              <a:spcBef>
                <a:spcPts val="400"/>
              </a:spcBef>
              <a:buClrTx/>
              <a:buSzTx/>
              <a:buNone/>
              <a:defRPr sz="2000"/>
            </a:lvl2pPr>
            <a:lvl3pPr marL="0" indent="914400">
              <a:spcBef>
                <a:spcPts val="400"/>
              </a:spcBef>
              <a:buClrTx/>
              <a:buSzTx/>
              <a:buNone/>
              <a:defRPr sz="2000"/>
            </a:lvl3pPr>
            <a:lvl4pPr marL="0" indent="1371600">
              <a:spcBef>
                <a:spcPts val="400"/>
              </a:spcBef>
              <a:buClrTx/>
              <a:buSzTx/>
              <a:buNone/>
              <a:defRPr sz="2000"/>
            </a:lvl4pPr>
            <a:lvl5pPr marL="0" indent="1828800">
              <a:spcBef>
                <a:spcPts val="400"/>
              </a:spcBef>
              <a:buClrTx/>
              <a:buSzTx/>
              <a:buNone/>
              <a:defRPr sz="2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81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82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83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84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8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32000" y="1905000"/>
            <a:ext cx="4572000" cy="4114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194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95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96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197" name="Title Text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ClrTx/>
              <a:buSzTx/>
              <a:buNone/>
              <a:defRPr sz="2400" b="1"/>
            </a:lvl1pPr>
            <a:lvl2pPr marL="0" indent="457200">
              <a:spcBef>
                <a:spcPts val="500"/>
              </a:spcBef>
              <a:buClrTx/>
              <a:buSzTx/>
              <a:buNone/>
              <a:defRPr sz="2400" b="1"/>
            </a:lvl2pPr>
            <a:lvl3pPr marL="0" indent="914400">
              <a:spcBef>
                <a:spcPts val="500"/>
              </a:spcBef>
              <a:buClrTx/>
              <a:buSzTx/>
              <a:buNone/>
              <a:defRPr sz="2400" b="1"/>
            </a:lvl3pPr>
            <a:lvl4pPr marL="0" indent="1371600">
              <a:spcBef>
                <a:spcPts val="500"/>
              </a:spcBef>
              <a:buClrTx/>
              <a:buSzTx/>
              <a:buNone/>
              <a:defRPr sz="2400" b="1"/>
            </a:lvl4pPr>
            <a:lvl5pPr marL="0" indent="1828800">
              <a:spcBef>
                <a:spcPts val="500"/>
              </a:spcBef>
              <a:buClrTx/>
              <a:buSz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8" y="1535112"/>
            <a:ext cx="5389033" cy="63976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500"/>
              </a:spcBef>
              <a:buClrTx/>
              <a:buSzTx/>
              <a:buNone/>
              <a:defRPr sz="2400" b="1"/>
            </a:lvl1pPr>
          </a:lstStyle>
          <a:p>
            <a:pPr marL="0" indent="0">
              <a:spcBef>
                <a:spcPts val="500"/>
              </a:spcBef>
              <a:buClrTx/>
              <a:buSzTx/>
              <a:buNone/>
              <a:defRPr sz="2400" b="1"/>
            </a:pPr>
            <a:endParaRPr/>
          </a:p>
        </p:txBody>
      </p:sp>
      <p:sp>
        <p:nvSpPr>
          <p:cNvPr id="20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08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09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10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11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20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21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22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31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32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33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34" name="Title Text"/>
          <p:cNvSpPr txBox="1">
            <a:spLocks noGrp="1"/>
          </p:cNvSpPr>
          <p:nvPr>
            <p:ph type="title"/>
          </p:nvPr>
        </p:nvSpPr>
        <p:spPr>
          <a:xfrm>
            <a:off x="609600" y="273050"/>
            <a:ext cx="4011085" cy="116205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235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  <a:lvl2pPr marL="783771" indent="-326571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6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599" y="1435101"/>
            <a:ext cx="4011087" cy="46910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</a:lstStyle>
          <a:p>
            <a:pPr marL="0" indent="0">
              <a:spcBef>
                <a:spcPts val="300"/>
              </a:spcBef>
              <a:buClrTx/>
              <a:buSzTx/>
              <a:buNone/>
              <a:defRPr sz="1400"/>
            </a:pPr>
            <a:endParaRPr/>
          </a:p>
        </p:txBody>
      </p:sp>
      <p:sp>
        <p:nvSpPr>
          <p:cNvPr id="2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45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46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47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48" name="Title Text"/>
          <p:cNvSpPr txBox="1">
            <a:spLocks noGrp="1"/>
          </p:cNvSpPr>
          <p:nvPr>
            <p:ph type="title"/>
          </p:nvPr>
        </p:nvSpPr>
        <p:spPr>
          <a:xfrm>
            <a:off x="2389718" y="4800600"/>
            <a:ext cx="7315201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24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8" y="612775"/>
            <a:ext cx="7315201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5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8" y="5367338"/>
            <a:ext cx="7315201" cy="80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ClrTx/>
              <a:buSzTx/>
              <a:buNone/>
              <a:defRPr sz="1400"/>
            </a:lvl1pPr>
            <a:lvl2pPr marL="0" indent="457200">
              <a:spcBef>
                <a:spcPts val="300"/>
              </a:spcBef>
              <a:buClrTx/>
              <a:buSz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None/>
              <a:defRPr sz="1400"/>
            </a:lvl3pPr>
            <a:lvl4pPr marL="0" indent="1371600">
              <a:spcBef>
                <a:spcPts val="300"/>
              </a:spcBef>
              <a:buClrTx/>
              <a:buSzTx/>
              <a:buNone/>
              <a:defRPr sz="1400"/>
            </a:lvl4pPr>
            <a:lvl5pPr marL="0" indent="1828800">
              <a:spcBef>
                <a:spcPts val="300"/>
              </a:spcBef>
              <a:buClrTx/>
              <a:buSz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59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60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61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62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6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32000" y="1905000"/>
            <a:ext cx="45720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4" name="Media Placeholder 3"/>
          <p:cNvSpPr>
            <a:spLocks noGrp="1"/>
          </p:cNvSpPr>
          <p:nvPr>
            <p:ph type="media" sz="half" idx="21"/>
          </p:nvPr>
        </p:nvSpPr>
        <p:spPr>
          <a:xfrm>
            <a:off x="6807200" y="1905000"/>
            <a:ext cx="4572000" cy="4114800"/>
          </a:xfrm>
          <a:prstGeom prst="rect">
            <a:avLst/>
          </a:prstGeom>
        </p:spPr>
        <p:txBody>
          <a:bodyPr lIns="91439" rIns="91439"/>
          <a:lstStyle/>
          <a:p>
            <a:endParaRPr/>
          </a:p>
        </p:txBody>
      </p:sp>
      <p:sp>
        <p:nvSpPr>
          <p:cNvPr id="2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Line 7"/>
          <p:cNvSpPr/>
          <p:nvPr/>
        </p:nvSpPr>
        <p:spPr>
          <a:xfrm flipV="1">
            <a:off x="1828800" y="304800"/>
            <a:ext cx="0" cy="1295400"/>
          </a:xfrm>
          <a:prstGeom prst="line">
            <a:avLst/>
          </a:prstGeom>
          <a:ln w="38100">
            <a:solidFill>
              <a:srgbClr val="000000"/>
            </a:solidFill>
          </a:ln>
        </p:spPr>
        <p:txBody>
          <a:bodyPr lIns="45719" rIns="45719"/>
          <a:lstStyle/>
          <a:p>
            <a:endParaRPr sz="1800"/>
          </a:p>
        </p:txBody>
      </p:sp>
      <p:sp>
        <p:nvSpPr>
          <p:cNvPr id="273" name="Oval 8"/>
          <p:cNvSpPr/>
          <p:nvPr/>
        </p:nvSpPr>
        <p:spPr>
          <a:xfrm>
            <a:off x="203200" y="838200"/>
            <a:ext cx="304800" cy="228600"/>
          </a:xfrm>
          <a:prstGeom prst="ellipse">
            <a:avLst/>
          </a:prstGeom>
          <a:solidFill>
            <a:srgbClr val="33666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74" name="Oval 9"/>
          <p:cNvSpPr/>
          <p:nvPr/>
        </p:nvSpPr>
        <p:spPr>
          <a:xfrm>
            <a:off x="719667" y="838200"/>
            <a:ext cx="304800" cy="228600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75" name="Oval 10"/>
          <p:cNvSpPr/>
          <p:nvPr/>
        </p:nvSpPr>
        <p:spPr>
          <a:xfrm>
            <a:off x="1236133" y="838200"/>
            <a:ext cx="304800" cy="22860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2400"/>
          </a:p>
        </p:txBody>
      </p:sp>
      <p:sp>
        <p:nvSpPr>
          <p:cNvPr id="276" name="Title Text"/>
          <p:cNvSpPr txBox="1">
            <a:spLocks noGrp="1"/>
          </p:cNvSpPr>
          <p:nvPr>
            <p:ph type="title"/>
          </p:nvPr>
        </p:nvSpPr>
        <p:spPr>
          <a:xfrm>
            <a:off x="2032000" y="190500"/>
            <a:ext cx="9347200" cy="15271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2032000" y="1905000"/>
            <a:ext cx="4572000" cy="41148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7"/>
          <p:cNvSpPr/>
          <p:nvPr/>
        </p:nvSpPr>
        <p:spPr>
          <a:xfrm flipV="1">
            <a:off x="3802390" y="416302"/>
            <a:ext cx="1" cy="742719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endParaRPr sz="1800"/>
          </a:p>
        </p:txBody>
      </p:sp>
      <p:pic>
        <p:nvPicPr>
          <p:cNvPr id="3" name="MSBA green.png" descr="MSBA gree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3543" y="501275"/>
            <a:ext cx="2749291" cy="572770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032000" y="6248400"/>
            <a:ext cx="310339" cy="307777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70000"/>
        <a:buFontTx/>
        <a:buChar char="○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763360" marR="0" indent="-3061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75000"/>
        <a:buFontTx/>
        <a:buChar char="●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1200150" marR="0" indent="-28575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17145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21717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2628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30861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35433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40005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>
          <a:srgbClr val="336666"/>
        </a:buClr>
        <a:buSzPct val="100000"/>
        <a:buFontTx/>
        <a:buChar char="•"/>
        <a:tabLst/>
        <a:defRPr sz="3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7.jpeg"/><Relationship Id="rId4" Type="http://schemas.openxmlformats.org/officeDocument/2006/relationships/hyperlink" Target="https://orfalea.calpoly.edu/graduate-programs/m-s-business-analytics-advisory-board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Brennan Davis…"/>
          <p:cNvSpPr txBox="1"/>
          <p:nvPr/>
        </p:nvSpPr>
        <p:spPr>
          <a:xfrm>
            <a:off x="7660823" y="3527646"/>
            <a:ext cx="2456761" cy="739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/>
          <a:p>
            <a:pPr>
              <a:lnSpc>
                <a:spcPct val="110000"/>
              </a:lnSpc>
              <a:defRPr sz="24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en-US" sz="2400" dirty="0"/>
              <a:t>Dr. </a:t>
            </a:r>
            <a:r>
              <a:rPr sz="2400" dirty="0"/>
              <a:t>Brennan Davis</a:t>
            </a:r>
          </a:p>
          <a:p>
            <a:pPr>
              <a:lnSpc>
                <a:spcPct val="110000"/>
              </a:lnSpc>
              <a:defRPr sz="15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r>
              <a:rPr sz="1500" dirty="0"/>
              <a:t>Director, MSBA Program</a:t>
            </a:r>
          </a:p>
        </p:txBody>
      </p:sp>
      <p:pic>
        <p:nvPicPr>
          <p:cNvPr id="2" name="Picture 1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9F957F58-EBFB-6E81-CBA2-F8098E2E0E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132" y="4093434"/>
            <a:ext cx="2321420" cy="2321420"/>
          </a:xfrm>
          <a:prstGeom prst="rect">
            <a:avLst/>
          </a:prstGeom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534F1331-2402-EEF0-2E80-0208E8AB0465}"/>
              </a:ext>
            </a:extLst>
          </p:cNvPr>
          <p:cNvSpPr txBox="1">
            <a:spLocks/>
          </p:cNvSpPr>
          <p:nvPr/>
        </p:nvSpPr>
        <p:spPr>
          <a:xfrm>
            <a:off x="4243552" y="4316382"/>
            <a:ext cx="2966596" cy="1875524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70000"/>
              <a:buFontTx/>
              <a:buChar char="○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763360" marR="0" indent="-3061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75000"/>
              <a:buFontTx/>
              <a:buChar char="●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00150" marR="0" indent="-28575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145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717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28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0861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433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005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0" indent="0" hangingPunct="1">
              <a:buNone/>
            </a:pPr>
            <a:r>
              <a:rPr lang="en-US" sz="2000" dirty="0"/>
              <a:t>Let us know you</a:t>
            </a:r>
            <a:br>
              <a:rPr lang="en-US" sz="2000" dirty="0"/>
            </a:br>
            <a:r>
              <a:rPr lang="en-US" sz="2000" dirty="0"/>
              <a:t>attended this </a:t>
            </a:r>
            <a:br>
              <a:rPr lang="en-US" sz="2000" dirty="0"/>
            </a:br>
            <a:r>
              <a:rPr lang="en-US" sz="2000" dirty="0"/>
              <a:t>MSBA Info Session </a:t>
            </a:r>
            <a:br>
              <a:rPr lang="en-US" sz="2000" dirty="0"/>
            </a:br>
            <a:r>
              <a:rPr lang="en-US" sz="2000" dirty="0"/>
              <a:t>by scanning the</a:t>
            </a:r>
            <a:br>
              <a:rPr lang="en-US" sz="2000" dirty="0"/>
            </a:br>
            <a:r>
              <a:rPr lang="en-US" sz="2000" dirty="0"/>
              <a:t>QR Code with </a:t>
            </a:r>
            <a:br>
              <a:rPr lang="en-US" sz="2000" dirty="0"/>
            </a:br>
            <a:r>
              <a:rPr lang="en-US" sz="2000" dirty="0"/>
              <a:t>phone’s camera</a:t>
            </a:r>
          </a:p>
        </p:txBody>
      </p:sp>
      <p:sp>
        <p:nvSpPr>
          <p:cNvPr id="4" name="Line 7">
            <a:extLst>
              <a:ext uri="{FF2B5EF4-FFF2-40B4-BE49-F238E27FC236}">
                <a16:creationId xmlns:a16="http://schemas.microsoft.com/office/drawing/2014/main" id="{8ACE103D-5870-3452-10E4-520EBC7463C6}"/>
              </a:ext>
            </a:extLst>
          </p:cNvPr>
          <p:cNvSpPr/>
          <p:nvPr/>
        </p:nvSpPr>
        <p:spPr>
          <a:xfrm flipV="1">
            <a:off x="4135206" y="2186988"/>
            <a:ext cx="1" cy="1151188"/>
          </a:xfrm>
          <a:prstGeom prst="line">
            <a:avLst/>
          </a:prstGeom>
          <a:ln w="25400">
            <a:solidFill>
              <a:schemeClr val="accent4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" name="MSBA green.png" descr="MSBA green.png">
            <a:extLst>
              <a:ext uri="{FF2B5EF4-FFF2-40B4-BE49-F238E27FC236}">
                <a16:creationId xmlns:a16="http://schemas.microsoft.com/office/drawing/2014/main" id="{BC28AFF6-098C-E8CE-CD46-23F1BDE7C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570" y="2476198"/>
            <a:ext cx="2061968" cy="572769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Cal Poly MSBA…">
            <a:extLst>
              <a:ext uri="{FF2B5EF4-FFF2-40B4-BE49-F238E27FC236}">
                <a16:creationId xmlns:a16="http://schemas.microsoft.com/office/drawing/2014/main" id="{622D02D4-9396-D06C-BDC2-002F6576BFF3}"/>
              </a:ext>
            </a:extLst>
          </p:cNvPr>
          <p:cNvSpPr txBox="1"/>
          <p:nvPr/>
        </p:nvSpPr>
        <p:spPr>
          <a:xfrm>
            <a:off x="4434874" y="1998994"/>
            <a:ext cx="7010401" cy="152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>
              <a:lnSpc>
                <a:spcPct val="80000"/>
              </a:lnSpc>
              <a:defRPr sz="3100" i="1">
                <a:solidFill>
                  <a:schemeClr val="accent4">
                    <a:lumOff val="-5019"/>
                  </a:schemeClr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r>
              <a:rPr sz="3100"/>
              <a:t>Cal Poly MSBA</a:t>
            </a:r>
          </a:p>
          <a:p>
            <a:pPr>
              <a:lnSpc>
                <a:spcPct val="80000"/>
              </a:lnSpc>
              <a:defRPr sz="48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sz="4800"/>
              <a:t>Information Session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Content Placeholder 4" descr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394" y="1940170"/>
            <a:ext cx="4542383" cy="4114800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What is Business Analytics?"/>
          <p:cNvSpPr txBox="1"/>
          <p:nvPr/>
        </p:nvSpPr>
        <p:spPr>
          <a:xfrm>
            <a:off x="4562299" y="479865"/>
            <a:ext cx="4872486" cy="584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sz="3200" dirty="0"/>
              <a:t>What is Business Analytics?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91" y="4699822"/>
            <a:ext cx="2989809" cy="1989583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Picture 4" descr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107" y="4680589"/>
            <a:ext cx="2892309" cy="1924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Picture 2" descr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946" y="4795684"/>
            <a:ext cx="1417762" cy="1809606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Cal Poly’s Business Analytics Program"/>
          <p:cNvSpPr txBox="1"/>
          <p:nvPr/>
        </p:nvSpPr>
        <p:spPr>
          <a:xfrm>
            <a:off x="4675461" y="526041"/>
            <a:ext cx="578290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Cal Poly’s Business Analytics Program</a:t>
            </a:r>
          </a:p>
        </p:txBody>
      </p:sp>
      <p:sp>
        <p:nvSpPr>
          <p:cNvPr id="299" name="Trendsetters:…"/>
          <p:cNvSpPr txBox="1"/>
          <p:nvPr/>
        </p:nvSpPr>
        <p:spPr>
          <a:xfrm>
            <a:off x="3640280" y="1594657"/>
            <a:ext cx="4363344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6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r>
              <a:rPr sz="2600"/>
              <a:t>Trendsetters: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             </a:t>
            </a:r>
            <a:r>
              <a:rPr sz="1600"/>
              <a:t>One of the first programs in the world.</a:t>
            </a:r>
          </a:p>
        </p:txBody>
      </p:sp>
      <p:sp>
        <p:nvSpPr>
          <p:cNvPr id="300" name="Amazing Professors:…"/>
          <p:cNvSpPr txBox="1"/>
          <p:nvPr/>
        </p:nvSpPr>
        <p:spPr>
          <a:xfrm>
            <a:off x="3609800" y="2453053"/>
            <a:ext cx="7662936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6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r>
              <a:rPr sz="2600" dirty="0"/>
              <a:t>Amazing Professors: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rPr dirty="0"/>
              <a:t>             </a:t>
            </a:r>
            <a:r>
              <a:rPr sz="1600" dirty="0"/>
              <a:t>5 Business Analytics authors of </a:t>
            </a:r>
            <a:r>
              <a:rPr lang="en-US" sz="1600" dirty="0"/>
              <a:t>5</a:t>
            </a:r>
            <a:r>
              <a:rPr sz="1600" dirty="0"/>
              <a:t> textbooks.</a:t>
            </a:r>
            <a:endParaRPr lang="en-US" sz="1600" dirty="0"/>
          </a:p>
          <a:p>
            <a:pPr>
              <a:defRPr>
                <a:solidFill>
                  <a:srgbClr val="000000"/>
                </a:solidFill>
              </a:defRPr>
            </a:pPr>
            <a:endParaRPr lang="en-US" sz="1600" dirty="0"/>
          </a:p>
          <a:p>
            <a:pPr>
              <a:defRPr>
                <a:solidFill>
                  <a:srgbClr val="000000"/>
                </a:solidFill>
              </a:defRPr>
            </a:pPr>
            <a:r>
              <a:rPr lang="en-US" sz="1600" dirty="0"/>
              <a:t>Brennan Davis has three textbooks: </a:t>
            </a:r>
            <a:r>
              <a:rPr lang="en-US" sz="1600" dirty="0" err="1"/>
              <a:t>Stukent’s</a:t>
            </a:r>
            <a:r>
              <a:rPr lang="en-US" sz="1600" dirty="0"/>
              <a:t> Business Analytics, </a:t>
            </a:r>
            <a:r>
              <a:rPr lang="en-US" sz="1600" dirty="0" err="1"/>
              <a:t>Stukent’s</a:t>
            </a:r>
            <a:r>
              <a:rPr lang="en-US" sz="1600" dirty="0"/>
              <a:t> Marketing Analytics, and Pearson’s Data Science for All. Sanjiv Jaggia, Kevin Lertwachara and Leida Chen have McGraw-Hill’s Business Analytics. These are used all over the world and Cal Poly MSBA students benefit from them teaching their classes.</a:t>
            </a:r>
            <a:endParaRPr sz="1600" dirty="0"/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2020-21 MSBA Cohort"/>
          <p:cNvSpPr txBox="1"/>
          <p:nvPr/>
        </p:nvSpPr>
        <p:spPr>
          <a:xfrm>
            <a:off x="4763468" y="456191"/>
            <a:ext cx="430181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lang="en-US" dirty="0"/>
              <a:t>Current </a:t>
            </a:r>
            <a:r>
              <a:rPr dirty="0"/>
              <a:t>MSBA Cohort</a:t>
            </a:r>
          </a:p>
        </p:txBody>
      </p:sp>
      <p:sp>
        <p:nvSpPr>
          <p:cNvPr id="303" name="Biological Science - 1…"/>
          <p:cNvSpPr txBox="1"/>
          <p:nvPr/>
        </p:nvSpPr>
        <p:spPr>
          <a:xfrm>
            <a:off x="2082119" y="1379755"/>
            <a:ext cx="8220121" cy="5583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marL="139700" defTabSz="457200">
              <a:lnSpc>
                <a:spcPct val="150000"/>
              </a:lnSpc>
              <a:buClr>
                <a:srgbClr val="000000"/>
              </a:buClr>
              <a:buSzPct val="100000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b="1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Frequent Undergraduate Degrees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Business: Accounting, Finance, Information Systems &amp; Marketing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Math/Statistics 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Engineering 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Economics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Computer Science 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Psychology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Animal Science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Political Science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Sociology and Geography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r>
              <a:rPr lang="en-US" sz="2000" dirty="0">
                <a:solidFill>
                  <a:srgbClr val="000000"/>
                </a:solidFill>
                <a:latin typeface="Source Sans Pro"/>
                <a:ea typeface="Source Sans Pro"/>
                <a:cs typeface="Source Sans Pro"/>
              </a:rPr>
              <a:t>Students are welcome from all over campus!</a:t>
            </a:r>
          </a:p>
          <a:p>
            <a:pPr marL="457200" indent="-317500" defTabSz="457200">
              <a:lnSpc>
                <a:spcPct val="150000"/>
              </a:lnSpc>
              <a:buClr>
                <a:srgbClr val="000000"/>
              </a:buClr>
              <a:buSzPct val="100000"/>
              <a:buFont typeface="Arial"/>
              <a:buChar char="•"/>
              <a:defRPr sz="20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pPr>
            <a:endParaRPr lang="en-US" sz="2000" dirty="0">
              <a:solidFill>
                <a:srgbClr val="000000"/>
              </a:solidFill>
              <a:latin typeface="Source Sans Pro"/>
              <a:ea typeface="Source Sans Pro"/>
              <a:cs typeface="Source Sans Pro"/>
            </a:endParaRP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Box 6"/>
          <p:cNvSpPr txBox="1"/>
          <p:nvPr/>
        </p:nvSpPr>
        <p:spPr>
          <a:xfrm>
            <a:off x="2166531" y="1539744"/>
            <a:ext cx="4782351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r>
              <a:rPr sz="2400" dirty="0"/>
              <a:t>Average GPA: 3.</a:t>
            </a:r>
            <a:r>
              <a:rPr lang="en-US" sz="2400" dirty="0"/>
              <a:t>5</a:t>
            </a:r>
            <a:endParaRPr sz="2400" dirty="0"/>
          </a:p>
          <a:p>
            <a:pPr>
              <a:defRPr sz="20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endParaRPr lang="en-US" sz="2400" dirty="0"/>
          </a:p>
          <a:p>
            <a:pPr>
              <a:defRPr sz="2000" i="1">
                <a:solidFill>
                  <a:srgbClr val="000000"/>
                </a:solidFill>
                <a:latin typeface="SourceSansPro-LightIt"/>
                <a:ea typeface="SourceSansPro-LightIt"/>
                <a:cs typeface="SourceSansPro-LightIt"/>
                <a:sym typeface="SourceSansPro-LightIt"/>
              </a:defRPr>
            </a:pPr>
            <a:endParaRPr lang="en-US" sz="2000" dirty="0"/>
          </a:p>
        </p:txBody>
      </p:sp>
      <p:sp>
        <p:nvSpPr>
          <p:cNvPr id="307" name="Square"/>
          <p:cNvSpPr/>
          <p:nvPr/>
        </p:nvSpPr>
        <p:spPr>
          <a:xfrm>
            <a:off x="4688160" y="-32795"/>
            <a:ext cx="2051946" cy="127000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2020-21 MSBA Cohort"/>
          <p:cNvSpPr txBox="1"/>
          <p:nvPr/>
        </p:nvSpPr>
        <p:spPr>
          <a:xfrm>
            <a:off x="4797974" y="512266"/>
            <a:ext cx="430181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lang="en-US" dirty="0"/>
              <a:t>Current </a:t>
            </a:r>
            <a:r>
              <a:rPr dirty="0"/>
              <a:t>MSBA Cohort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48864-761F-CBD5-BB87-D9DD439F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4">
            <a:extLst>
              <a:ext uri="{FF2B5EF4-FFF2-40B4-BE49-F238E27FC236}">
                <a16:creationId xmlns:a16="http://schemas.microsoft.com/office/drawing/2014/main" id="{84F3EAA1-96D5-8B76-37E1-BD0EF41DEBF0}"/>
              </a:ext>
            </a:extLst>
          </p:cNvPr>
          <p:cNvSpPr/>
          <p:nvPr/>
        </p:nvSpPr>
        <p:spPr>
          <a:xfrm>
            <a:off x="2057400" y="4191000"/>
            <a:ext cx="7696200" cy="152400"/>
          </a:xfrm>
          <a:prstGeom prst="rect">
            <a:avLst/>
          </a:prstGeom>
          <a:solidFill>
            <a:schemeClr val="accent3">
              <a:lumOff val="44000"/>
            </a:schemeClr>
          </a:solidFill>
          <a:ln w="25400">
            <a:solidFill>
              <a:schemeClr val="accent3">
                <a:lumOff val="44000"/>
              </a:schemeClr>
            </a:solidFill>
          </a:ln>
        </p:spPr>
        <p:txBody>
          <a:bodyPr lIns="45719" rIns="45719"/>
          <a:lstStyle/>
          <a:p>
            <a:pPr>
              <a:defRPr b="1">
                <a:ln w="22225" cap="flat">
                  <a:solidFill>
                    <a:schemeClr val="accent2"/>
                  </a:solidFill>
                  <a:prstDash val="solid"/>
                  <a:round/>
                </a:ln>
                <a:solidFill>
                  <a:srgbClr val="EBEBEB"/>
                </a:solidFill>
              </a:defRPr>
            </a:pPr>
            <a:endParaRPr/>
          </a:p>
        </p:txBody>
      </p:sp>
      <p:sp>
        <p:nvSpPr>
          <p:cNvPr id="313" name="Square">
            <a:extLst>
              <a:ext uri="{FF2B5EF4-FFF2-40B4-BE49-F238E27FC236}">
                <a16:creationId xmlns:a16="http://schemas.microsoft.com/office/drawing/2014/main" id="{B19C3614-26DF-FA22-66D7-3C3EC2D017EB}"/>
              </a:ext>
            </a:extLst>
          </p:cNvPr>
          <p:cNvSpPr/>
          <p:nvPr/>
        </p:nvSpPr>
        <p:spPr>
          <a:xfrm>
            <a:off x="4688160" y="321734"/>
            <a:ext cx="3570748" cy="127000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4" name="Curriculum for 2020-21">
            <a:extLst>
              <a:ext uri="{FF2B5EF4-FFF2-40B4-BE49-F238E27FC236}">
                <a16:creationId xmlns:a16="http://schemas.microsoft.com/office/drawing/2014/main" id="{12C55557-4B76-3350-BC3C-EDF23FE7BED1}"/>
              </a:ext>
            </a:extLst>
          </p:cNvPr>
          <p:cNvSpPr txBox="1"/>
          <p:nvPr/>
        </p:nvSpPr>
        <p:spPr>
          <a:xfrm>
            <a:off x="4763468" y="456191"/>
            <a:ext cx="354199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lang="en-US" dirty="0"/>
              <a:t>MSBA </a:t>
            </a:r>
            <a:r>
              <a:rPr dirty="0"/>
              <a:t>Curriculum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AE10DF-5DF2-9151-1130-132077CDB347}"/>
              </a:ext>
            </a:extLst>
          </p:cNvPr>
          <p:cNvSpPr txBox="1"/>
          <p:nvPr/>
        </p:nvSpPr>
        <p:spPr>
          <a:xfrm>
            <a:off x="1945972" y="1726192"/>
            <a:ext cx="4051147" cy="5262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Intersession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Statistics and Probability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Marketing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Career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Fall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Econometrics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Mining and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Career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AF5EB-4023-9F8E-745D-A84E4A0E5609}"/>
              </a:ext>
            </a:extLst>
          </p:cNvPr>
          <p:cNvSpPr txBox="1"/>
          <p:nvPr/>
        </p:nvSpPr>
        <p:spPr>
          <a:xfrm>
            <a:off x="5885689" y="1787610"/>
            <a:ext cx="4553951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Spring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Collaborative Industry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Career Development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AI for Business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Electives</a:t>
            </a:r>
          </a:p>
          <a:p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76720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rriculum for 2020-21">
            <a:extLst>
              <a:ext uri="{FF2B5EF4-FFF2-40B4-BE49-F238E27FC236}">
                <a16:creationId xmlns:a16="http://schemas.microsoft.com/office/drawing/2014/main" id="{D57158C5-17D5-9AA2-F3D2-723D2104A349}"/>
              </a:ext>
            </a:extLst>
          </p:cNvPr>
          <p:cNvSpPr txBox="1"/>
          <p:nvPr/>
        </p:nvSpPr>
        <p:spPr>
          <a:xfrm>
            <a:off x="4763468" y="456191"/>
            <a:ext cx="3541993" cy="64633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lang="en-US" dirty="0"/>
              <a:t>MSBA </a:t>
            </a:r>
            <a:r>
              <a:rPr dirty="0"/>
              <a:t>Curriculum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298A5-D754-5948-9775-4F549CED28E0}"/>
              </a:ext>
            </a:extLst>
          </p:cNvPr>
          <p:cNvSpPr txBox="1"/>
          <p:nvPr/>
        </p:nvSpPr>
        <p:spPr>
          <a:xfrm>
            <a:off x="2104703" y="1513291"/>
            <a:ext cx="8436459" cy="56323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b="1" dirty="0"/>
              <a:t>Past Electives</a:t>
            </a:r>
          </a:p>
          <a:p>
            <a:endParaRPr lang="en-US" sz="2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Cloud Computing for AI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AI for Business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Advanced Machine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Finance Analytics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Finance Time-Series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People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Data Visualization and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17971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B4E7A-870A-86AA-65FC-3C7C124E4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quare">
            <a:extLst>
              <a:ext uri="{FF2B5EF4-FFF2-40B4-BE49-F238E27FC236}">
                <a16:creationId xmlns:a16="http://schemas.microsoft.com/office/drawing/2014/main" id="{33AB006A-7E36-C413-C631-F2ADD08CD66F}"/>
              </a:ext>
            </a:extLst>
          </p:cNvPr>
          <p:cNvSpPr/>
          <p:nvPr/>
        </p:nvSpPr>
        <p:spPr>
          <a:xfrm>
            <a:off x="4688160" y="321734"/>
            <a:ext cx="1551614" cy="127000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Cal Poly’s Business Analytics Program">
            <a:extLst>
              <a:ext uri="{FF2B5EF4-FFF2-40B4-BE49-F238E27FC236}">
                <a16:creationId xmlns:a16="http://schemas.microsoft.com/office/drawing/2014/main" id="{868BB46D-42FB-45F4-3CA8-4E076C379EA2}"/>
              </a:ext>
            </a:extLst>
          </p:cNvPr>
          <p:cNvSpPr txBox="1"/>
          <p:nvPr/>
        </p:nvSpPr>
        <p:spPr>
          <a:xfrm>
            <a:off x="4675461" y="526041"/>
            <a:ext cx="578290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dirty="0"/>
              <a:t>Cal Poly’s </a:t>
            </a:r>
            <a:r>
              <a:rPr lang="en-US" dirty="0"/>
              <a:t>Student Development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5F4482-A551-79F8-659E-E0CE6F6CA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6595" y="1796041"/>
            <a:ext cx="6714744" cy="4114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We have a dedicated Career Advisor – Travis Raynaud</a:t>
            </a:r>
          </a:p>
          <a:p>
            <a:r>
              <a:rPr lang="en-US" dirty="0"/>
              <a:t>We hold monthly Roundtables with Industry led by a Google Principles, helping students network with dozen of professional each month</a:t>
            </a:r>
          </a:p>
          <a:p>
            <a:r>
              <a:rPr lang="en-US" dirty="0"/>
              <a:t>Or annual February Analytics Forum brings on campus for networking our </a:t>
            </a:r>
            <a:r>
              <a:rPr lang="en-US" dirty="0">
                <a:hlinkClick r:id="rId4"/>
              </a:rPr>
              <a:t>Business Analytics Advisory board 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https://orfalea.calpoly.edu/graduate-programs/m-s-business-analytics-advisory-board</a:t>
            </a:r>
            <a:endParaRPr lang="en-US" dirty="0"/>
          </a:p>
          <a:p>
            <a:endParaRPr lang="en-US" dirty="0"/>
          </a:p>
          <a:p>
            <a:r>
              <a:rPr lang="en-US" dirty="0"/>
              <a:t>Overnight </a:t>
            </a:r>
            <a:br>
              <a:rPr lang="en-US" dirty="0"/>
            </a:br>
            <a:r>
              <a:rPr lang="en-US" dirty="0"/>
              <a:t>Corporate Tour. In the past, we went to </a:t>
            </a:r>
            <a:r>
              <a:rPr lang="en-US" dirty="0" err="1"/>
              <a:t>Oracel</a:t>
            </a:r>
            <a:r>
              <a:rPr lang="en-US" dirty="0"/>
              <a:t>, Netflix and google</a:t>
            </a:r>
          </a:p>
        </p:txBody>
      </p:sp>
      <p:pic>
        <p:nvPicPr>
          <p:cNvPr id="3" name="Picture 2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B361BC98-C3B5-C99E-E9DF-4FA4D4D91D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98"/>
          <a:stretch/>
        </p:blipFill>
        <p:spPr>
          <a:xfrm>
            <a:off x="6153005" y="3170682"/>
            <a:ext cx="3932400" cy="25991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6284020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5768DAB-B833-1AB3-AF3E-BB2933671DA6}"/>
              </a:ext>
            </a:extLst>
          </p:cNvPr>
          <p:cNvSpPr txBox="1">
            <a:spLocks/>
          </p:cNvSpPr>
          <p:nvPr/>
        </p:nvSpPr>
        <p:spPr>
          <a:xfrm>
            <a:off x="4658016" y="565935"/>
            <a:ext cx="5497920" cy="7636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4572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9144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13716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18288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hangingPunct="1"/>
            <a:r>
              <a:rPr lang="en-US" sz="2800" b="1">
                <a:solidFill>
                  <a:srgbClr val="134F5C"/>
                </a:solidFill>
              </a:rPr>
              <a:t>AI for Business Analytics</a:t>
            </a:r>
            <a:endParaRPr lang="en-US" sz="2800" b="1" dirty="0">
              <a:solidFill>
                <a:srgbClr val="134F5C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17E0ED1-30A9-BCF9-A317-F233CFB15CE6}"/>
              </a:ext>
            </a:extLst>
          </p:cNvPr>
          <p:cNvSpPr txBox="1">
            <a:spLocks/>
          </p:cNvSpPr>
          <p:nvPr/>
        </p:nvSpPr>
        <p:spPr>
          <a:xfrm>
            <a:off x="1898384" y="1874975"/>
            <a:ext cx="10189984" cy="116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Autofit/>
          </a:bodyPr>
          <a:lstStyle>
            <a:lvl1pPr marL="342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70000"/>
              <a:buFontTx/>
              <a:buChar char="○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763360" marR="0" indent="-3061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75000"/>
              <a:buFontTx/>
              <a:buChar char="●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1200150" marR="0" indent="-28575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17145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21717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26289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30861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35433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4000500" marR="0" indent="-34290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36666"/>
              </a:buClr>
              <a:buSzPct val="100000"/>
              <a:buFontTx/>
              <a:buChar char="•"/>
              <a:tabLst/>
              <a:defRPr sz="3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marL="0" indent="0" hangingPunct="1">
              <a:buNone/>
            </a:pPr>
            <a:r>
              <a:rPr lang="en-US" sz="2400" b="1" dirty="0"/>
              <a:t>Our MSBA program integrates AI by leveraging it on the back end through cloud computing in the following ways:</a:t>
            </a:r>
          </a:p>
          <a:p>
            <a:pPr hangingPunct="1"/>
            <a:r>
              <a:rPr lang="en-US" sz="2400" b="1" dirty="0"/>
              <a:t>Tokens &amp; embeddings - cost, context, similarity</a:t>
            </a:r>
          </a:p>
          <a:p>
            <a:pPr hangingPunct="1"/>
            <a:r>
              <a:rPr lang="en-US" sz="2400" b="1" dirty="0"/>
              <a:t>Retrieval-augmented generation (RAG) - data-grounded answers</a:t>
            </a:r>
          </a:p>
          <a:p>
            <a:pPr hangingPunct="1"/>
            <a:r>
              <a:rPr lang="en-US" sz="2400" b="1" dirty="0"/>
              <a:t>APIs &amp; integrations - model-powered apps</a:t>
            </a:r>
          </a:p>
          <a:p>
            <a:pPr hangingPunct="1"/>
            <a:r>
              <a:rPr lang="en-US" sz="2400" b="1" dirty="0"/>
              <a:t>Agents - tool-using automation</a:t>
            </a:r>
          </a:p>
          <a:p>
            <a:pPr hangingPunct="1"/>
            <a:r>
              <a:rPr lang="en-US" sz="2400" b="1" dirty="0"/>
              <a:t>Evaluation - metrics, A/B tests, monitoring</a:t>
            </a:r>
          </a:p>
          <a:p>
            <a:pPr hangingPunct="1"/>
            <a:r>
              <a:rPr lang="en-US" sz="2400" b="1" dirty="0"/>
              <a:t>Responsible AI - privacy, fairness, governance</a:t>
            </a:r>
          </a:p>
          <a:p>
            <a:pPr hangingPunct="1"/>
            <a:r>
              <a:rPr lang="en-US" sz="2400" b="1" dirty="0"/>
              <a:t>Vector databases &amp; semantic search - fast, relevant retrieval</a:t>
            </a:r>
          </a:p>
          <a:p>
            <a:pPr hangingPunct="1"/>
            <a:r>
              <a:rPr lang="en-US" sz="2400" b="1" dirty="0"/>
              <a:t>AI-assisted data storytelling &amp; NLG - concise narratives from data</a:t>
            </a:r>
          </a:p>
          <a:p>
            <a:pPr hangingPunct="1"/>
            <a:r>
              <a:rPr lang="en-US" sz="2400" b="1" dirty="0"/>
              <a:t>Causal inference - experiments and uplift-driven decisions</a:t>
            </a:r>
          </a:p>
          <a:p>
            <a:pPr hangingPunct="1"/>
            <a:r>
              <a:rPr lang="en-US" sz="2400" b="1" dirty="0"/>
              <a:t>Time series with ML &amp; GenAI - forecasting and anomaly detection</a:t>
            </a:r>
          </a:p>
          <a:p>
            <a:pPr hangingPunct="1"/>
            <a:r>
              <a:rPr lang="en-US" sz="2400" b="1" dirty="0" err="1"/>
              <a:t>MLOps</a:t>
            </a:r>
            <a:r>
              <a:rPr lang="en-US" sz="2400" b="1" dirty="0"/>
              <a:t> &amp; </a:t>
            </a:r>
            <a:r>
              <a:rPr lang="en-US" sz="2400" b="1" dirty="0" err="1"/>
              <a:t>LLMOps</a:t>
            </a:r>
            <a:r>
              <a:rPr lang="en-US" sz="2400" b="1" dirty="0"/>
              <a:t> - deployment, monitoring, governance at scale</a:t>
            </a:r>
          </a:p>
          <a:p>
            <a:pPr hangingPunct="1"/>
            <a:r>
              <a:rPr lang="en-US" sz="2400" b="1" dirty="0"/>
              <a:t>Model Context Protocol (MCP)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95504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6B97-0253-F9DE-8DF3-55DC4A1A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39D1D5F-01C6-6DAE-5969-F724ACE84BF8}"/>
              </a:ext>
            </a:extLst>
          </p:cNvPr>
          <p:cNvSpPr txBox="1">
            <a:spLocks/>
          </p:cNvSpPr>
          <p:nvPr/>
        </p:nvSpPr>
        <p:spPr>
          <a:xfrm>
            <a:off x="4658016" y="565935"/>
            <a:ext cx="5497920" cy="7636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5pPr>
            <a:lvl6pPr marL="0" marR="0" indent="4572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6pPr>
            <a:lvl7pPr marL="0" marR="0" indent="9144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7pPr>
            <a:lvl8pPr marL="0" marR="0" indent="13716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8pPr>
            <a:lvl9pPr marL="0" marR="0" indent="182880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Arial"/>
              </a:defRPr>
            </a:lvl9pPr>
          </a:lstStyle>
          <a:p>
            <a:pPr hangingPunct="1"/>
            <a:r>
              <a:rPr lang="en-US" sz="2800" b="1" dirty="0">
                <a:solidFill>
                  <a:srgbClr val="134F5C"/>
                </a:solidFill>
              </a:rPr>
              <a:t>Collaborative Industry Projects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8AE2969-D2A7-9068-7F8F-169E610BC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46070" y="1496928"/>
            <a:ext cx="7842660" cy="1164000"/>
          </a:xfrm>
        </p:spPr>
        <p:txBody>
          <a:bodyPr>
            <a:noAutofit/>
          </a:bodyPr>
          <a:lstStyle/>
          <a:p>
            <a:r>
              <a:rPr lang="en-US" sz="2400" dirty="0"/>
              <a:t>Students work on </a:t>
            </a:r>
            <a:r>
              <a:rPr lang="en-US" sz="2400" b="1" dirty="0"/>
              <a:t>real-world data projects </a:t>
            </a:r>
          </a:p>
          <a:p>
            <a:r>
              <a:rPr lang="en-US" sz="2400" dirty="0"/>
              <a:t>Professors act as </a:t>
            </a:r>
            <a:r>
              <a:rPr lang="en-US" sz="2400" b="1" dirty="0"/>
              <a:t>technical advisors </a:t>
            </a:r>
            <a:r>
              <a:rPr lang="en-US" sz="2400" dirty="0"/>
              <a:t>to the students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Recent clients</a:t>
            </a:r>
          </a:p>
          <a:p>
            <a:pPr lvl="1"/>
            <a:r>
              <a:rPr lang="en-US" sz="2400" dirty="0"/>
              <a:t>Netflix</a:t>
            </a:r>
          </a:p>
          <a:p>
            <a:pPr lvl="1"/>
            <a:r>
              <a:rPr lang="en-US" sz="2400" dirty="0"/>
              <a:t>Engie</a:t>
            </a:r>
          </a:p>
          <a:p>
            <a:pPr lvl="1"/>
            <a:r>
              <a:rPr lang="en-US" sz="2400" dirty="0"/>
              <a:t>AT&amp;T</a:t>
            </a:r>
          </a:p>
          <a:p>
            <a:pPr lvl="1"/>
            <a:r>
              <a:rPr lang="en-US" sz="2400" dirty="0"/>
              <a:t>Salesforce</a:t>
            </a:r>
          </a:p>
          <a:p>
            <a:pPr lvl="1"/>
            <a:r>
              <a:rPr lang="en-US" sz="2400" dirty="0"/>
              <a:t>Seattle Seahawks</a:t>
            </a:r>
          </a:p>
          <a:p>
            <a:pPr lvl="1"/>
            <a:r>
              <a:rPr lang="en-US" sz="2400" dirty="0"/>
              <a:t>Claritas</a:t>
            </a:r>
          </a:p>
          <a:p>
            <a:pPr lvl="1"/>
            <a:r>
              <a:rPr lang="en-US" sz="2400" dirty="0"/>
              <a:t>Oracle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36235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Picture 3" descr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954" y="1591734"/>
            <a:ext cx="4935557" cy="1966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Picture 4" descr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631" y="1620910"/>
            <a:ext cx="1674565" cy="2016088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Square"/>
          <p:cNvSpPr/>
          <p:nvPr/>
        </p:nvSpPr>
        <p:spPr>
          <a:xfrm>
            <a:off x="4688160" y="321734"/>
            <a:ext cx="1551614" cy="127000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Cal Poly’s Business Analytics Program"/>
          <p:cNvSpPr txBox="1"/>
          <p:nvPr/>
        </p:nvSpPr>
        <p:spPr>
          <a:xfrm>
            <a:off x="4675461" y="526041"/>
            <a:ext cx="5782907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dirty="0"/>
              <a:t>Cal Poly’s Business Analytics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1171C-027C-BFBD-9E59-60B6863FC5D3}"/>
              </a:ext>
            </a:extLst>
          </p:cNvPr>
          <p:cNvSpPr txBox="1"/>
          <p:nvPr/>
        </p:nvSpPr>
        <p:spPr>
          <a:xfrm>
            <a:off x="2323828" y="5491338"/>
            <a:ext cx="7761589" cy="830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</a:rPr>
              <a:t>Average MSBA alumni salary after two or more years: </a:t>
            </a: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$145,667*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A48E0-4B37-DFDB-667E-633D46D6CA0A}"/>
              </a:ext>
            </a:extLst>
          </p:cNvPr>
          <p:cNvSpPr txBox="1"/>
          <p:nvPr/>
        </p:nvSpPr>
        <p:spPr>
          <a:xfrm>
            <a:off x="2324925" y="4462392"/>
            <a:ext cx="6822093" cy="830995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2025 MSBA Graduate Salary Interquartile Range: 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$85,000 – $101,750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70DB7-CA1F-3F9C-8C6C-B55C22031510}"/>
              </a:ext>
            </a:extLst>
          </p:cNvPr>
          <p:cNvSpPr/>
          <p:nvPr/>
        </p:nvSpPr>
        <p:spPr>
          <a:xfrm>
            <a:off x="3725016" y="2819401"/>
            <a:ext cx="904136" cy="307775"/>
          </a:xfrm>
          <a:prstGeom prst="rect">
            <a:avLst/>
          </a:prstGeom>
          <a:solidFill>
            <a:schemeClr val="accent3">
              <a:lumOff val="44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700" b="1" dirty="0">
                <a:solidFill>
                  <a:schemeClr val="bg2"/>
                </a:solidFill>
                <a:latin typeface="+mn-lt"/>
              </a:rPr>
              <a:t>public &amp; private masters university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E42C8-CF1F-9AD6-9CFD-71AD79D10C33}"/>
              </a:ext>
            </a:extLst>
          </p:cNvPr>
          <p:cNvSpPr/>
          <p:nvPr/>
        </p:nvSpPr>
        <p:spPr>
          <a:xfrm>
            <a:off x="4831834" y="2263239"/>
            <a:ext cx="1757943" cy="230830"/>
          </a:xfrm>
          <a:prstGeom prst="rect">
            <a:avLst/>
          </a:prstGeom>
          <a:solidFill>
            <a:schemeClr val="accent3">
              <a:lumOff val="44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900" b="1" dirty="0">
                <a:solidFill>
                  <a:schemeClr val="bg2"/>
                </a:solidFill>
                <a:latin typeface="+mn-lt"/>
              </a:rPr>
              <a:t>Mid-July to Mid-May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A66AEB-FB27-68CD-2704-A64BE11A6D4D}"/>
              </a:ext>
            </a:extLst>
          </p:cNvPr>
          <p:cNvSpPr/>
          <p:nvPr/>
        </p:nvSpPr>
        <p:spPr>
          <a:xfrm>
            <a:off x="6748724" y="2436491"/>
            <a:ext cx="1618089" cy="415496"/>
          </a:xfrm>
          <a:prstGeom prst="rect">
            <a:avLst/>
          </a:prstGeom>
          <a:solidFill>
            <a:srgbClr val="004E37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+mn-lt"/>
              </a:rPr>
              <a:t>October 1 – May 1</a:t>
            </a:r>
          </a:p>
          <a:p>
            <a:pPr algn="ctr"/>
            <a:r>
              <a:rPr lang="en-US" sz="900" b="1" dirty="0">
                <a:solidFill>
                  <a:schemeClr val="bg1"/>
                </a:solidFill>
                <a:latin typeface="+mn-lt"/>
              </a:rPr>
              <a:t>April 1 for international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666" y="1169379"/>
            <a:ext cx="2905125" cy="1571625"/>
          </a:xfrm>
          <a:prstGeom prst="rect">
            <a:avLst/>
          </a:prstGeom>
        </p:spPr>
      </p:pic>
      <p:pic>
        <p:nvPicPr>
          <p:cNvPr id="327" name="Picture 3" descr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665" y="2541474"/>
            <a:ext cx="8108950" cy="3371851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Square"/>
          <p:cNvSpPr/>
          <p:nvPr/>
        </p:nvSpPr>
        <p:spPr>
          <a:xfrm>
            <a:off x="4688161" y="321734"/>
            <a:ext cx="1499855" cy="847644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9" name="Firms that Hire Cal Poly MSBA Graduates"/>
          <p:cNvSpPr txBox="1"/>
          <p:nvPr/>
        </p:nvSpPr>
        <p:spPr>
          <a:xfrm>
            <a:off x="4675461" y="310141"/>
            <a:ext cx="5782907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7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rPr dirty="0"/>
              <a:t>Firms that Hire Cal Poly MSBA Graduates</a:t>
            </a:r>
          </a:p>
        </p:txBody>
      </p:sp>
      <p:pic>
        <p:nvPicPr>
          <p:cNvPr id="1026" name="Picture 2" descr="File:AT&amp;T logo 2016.svg - Wikimedia Common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726" y="1926248"/>
            <a:ext cx="2003425" cy="82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ational Football League -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247" y="1389572"/>
            <a:ext cx="1084814" cy="1490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Oracle logo and symbol, meaning, history, 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728" y="1306286"/>
            <a:ext cx="3221158" cy="82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angle 4"/>
          <p:cNvSpPr/>
          <p:nvPr/>
        </p:nvSpPr>
        <p:spPr>
          <a:xfrm>
            <a:off x="1828800" y="4343401"/>
            <a:ext cx="8686800" cy="1357313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Square"/>
          <p:cNvSpPr/>
          <p:nvPr/>
        </p:nvSpPr>
        <p:spPr>
          <a:xfrm>
            <a:off x="4736161" y="219734"/>
            <a:ext cx="1270001" cy="1270001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People"/>
          <p:cNvSpPr txBox="1"/>
          <p:nvPr/>
        </p:nvSpPr>
        <p:spPr>
          <a:xfrm>
            <a:off x="4675461" y="481591"/>
            <a:ext cx="5782907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3300">
                <a:solidFill>
                  <a:schemeClr val="accent4">
                    <a:lumOff val="-5019"/>
                  </a:schemeClr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People</a:t>
            </a:r>
          </a:p>
        </p:txBody>
      </p:sp>
      <p:pic>
        <p:nvPicPr>
          <p:cNvPr id="1026" name="Picture 2" descr="Profile photo of Kevin Louther">
            <a:extLst>
              <a:ext uri="{FF2B5EF4-FFF2-40B4-BE49-F238E27FC236}">
                <a16:creationId xmlns:a16="http://schemas.microsoft.com/office/drawing/2014/main" id="{B66B6D7A-BFEE-7642-862D-E26BC479D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32214">
            <a:off x="2550174" y="2001357"/>
            <a:ext cx="2852404" cy="2852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8AB282-EDA2-F1E1-BDD6-42DFA916A98E}"/>
              </a:ext>
            </a:extLst>
          </p:cNvPr>
          <p:cNvSpPr txBox="1"/>
          <p:nvPr/>
        </p:nvSpPr>
        <p:spPr>
          <a:xfrm rot="21359827">
            <a:off x="2691970" y="4849964"/>
            <a:ext cx="3209544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latin typeface="-apple-system"/>
              </a:rPr>
              <a:t>Kevin Louther – </a:t>
            </a:r>
            <a:br>
              <a:rPr lang="en-US" dirty="0">
                <a:latin typeface="-apple-system"/>
              </a:rPr>
            </a:br>
            <a:r>
              <a:rPr lang="en-US" dirty="0">
                <a:latin typeface="-apple-system"/>
              </a:rPr>
              <a:t>Product Analytics &amp; Data Strategy Lead for AI Products @ </a:t>
            </a:r>
            <a:r>
              <a:rPr lang="en-US" b="1" dirty="0">
                <a:latin typeface="-apple-system"/>
              </a:rPr>
              <a:t>Adobe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C69C1D-4037-FDD7-190C-E3F4B2299FEB}"/>
              </a:ext>
            </a:extLst>
          </p:cNvPr>
          <p:cNvSpPr txBox="1"/>
          <p:nvPr/>
        </p:nvSpPr>
        <p:spPr>
          <a:xfrm rot="21345030">
            <a:off x="6841182" y="4498754"/>
            <a:ext cx="3209544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latin typeface="-apple-system"/>
              </a:rPr>
              <a:t>Izzy Kamrath – </a:t>
            </a:r>
            <a:br>
              <a:rPr lang="en-US" dirty="0">
                <a:latin typeface="-apple-system"/>
              </a:rPr>
            </a:br>
            <a:r>
              <a:rPr lang="en-US" dirty="0">
                <a:latin typeface="-apple-system"/>
              </a:rPr>
              <a:t>Principal Business Analyst @ </a:t>
            </a:r>
            <a:r>
              <a:rPr lang="en-US" b="1" dirty="0">
                <a:latin typeface="-apple-system"/>
              </a:rPr>
              <a:t>AT&amp;T</a:t>
            </a:r>
            <a:endParaRPr lang="en-US" b="1" dirty="0"/>
          </a:p>
        </p:txBody>
      </p:sp>
      <p:pic>
        <p:nvPicPr>
          <p:cNvPr id="1030" name="Picture 6" descr="Profile photo of Izzy Kamrath">
            <a:extLst>
              <a:ext uri="{FF2B5EF4-FFF2-40B4-BE49-F238E27FC236}">
                <a16:creationId xmlns:a16="http://schemas.microsoft.com/office/drawing/2014/main" id="{3C0BF599-7C50-C384-701E-021AFC2CC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37006">
            <a:off x="6699033" y="1590544"/>
            <a:ext cx="2834047" cy="2834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" name="Content Placeholder 3"/>
          <p:cNvGraphicFramePr/>
          <p:nvPr>
            <p:extLst>
              <p:ext uri="{D42A27DB-BD31-4B8C-83A1-F6EECF244321}">
                <p14:modId xmlns:p14="http://schemas.microsoft.com/office/powerpoint/2010/main" val="4186932859"/>
              </p:ext>
            </p:extLst>
          </p:nvPr>
        </p:nvGraphicFramePr>
        <p:xfrm>
          <a:off x="1714500" y="344035"/>
          <a:ext cx="8763000" cy="5966387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828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7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260">
                <a:tc>
                  <a:txBody>
                    <a:bodyPr/>
                    <a:lstStyle/>
                    <a:p>
                      <a:pPr algn="ctr">
                        <a:defRPr sz="2400"/>
                      </a:pPr>
                      <a:endParaRPr dirty="0"/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MSBA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MSQE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449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Application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Theory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595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Prerequisites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statistics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+ calculus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calculus + statistics</a:t>
                      </a:r>
                      <a:endParaRPr sz="2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931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Job placement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2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lang="en-US" dirty="0"/>
                        <a:t>corporations, technology f</a:t>
                      </a:r>
                      <a:r>
                        <a:rPr dirty="0"/>
                        <a:t>irms</a:t>
                      </a:r>
                      <a:r>
                        <a:rPr lang="en-US" dirty="0"/>
                        <a:t>, and consulting firms</a:t>
                      </a:r>
                      <a:r>
                        <a:rPr dirty="0"/>
                        <a:t> interested in hiring </a:t>
                      </a:r>
                      <a:r>
                        <a:rPr i="1" dirty="0"/>
                        <a:t>business analytics </a:t>
                      </a:r>
                      <a:r>
                        <a:rPr dirty="0"/>
                        <a:t>professionals 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PhD for academia; g</a:t>
                      </a: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overnmental organizations 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 firms </a:t>
                      </a: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interested in hiring economists 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931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Inter-disciplinarity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Faculty from Statistics, Computing, </a:t>
                      </a:r>
                      <a:r>
                        <a:rPr lang="en-US"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 Systems, </a:t>
                      </a: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Marketing, Management, Economics, and Finance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Faculty from Economics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60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b="1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Culminating Experience</a:t>
                      </a:r>
                    </a:p>
                  </a:txBody>
                  <a:tcPr marL="33489" marR="33489" marT="33489" marB="33489" horzOverflow="overflow">
                    <a:lnL w="12649">
                      <a:solidFill>
                        <a:srgbClr val="000000"/>
                      </a:solidFill>
                    </a:lnL>
                    <a:lnR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Collaborative Industry Projects</a:t>
                      </a:r>
                    </a:p>
                  </a:txBody>
                  <a:tcPr marL="33489" marR="33489" marT="33489" marB="33489" horzOverflow="overflow">
                    <a:lnL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Comprehensive Exam</a:t>
                      </a:r>
                    </a:p>
                  </a:txBody>
                  <a:tcPr marL="33489" marR="33489" marT="33489" marB="33489" horzOverflow="overflow">
                    <a:lnL w="1264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49">
                      <a:solidFill>
                        <a:srgbClr val="000000"/>
                      </a:solidFill>
                    </a:lnR>
                    <a:lnT w="12649">
                      <a:solidFill>
                        <a:srgbClr val="000000"/>
                      </a:solidFill>
                    </a:lnT>
                    <a:lnB w="12649">
                      <a:solidFill>
                        <a:srgbClr val="000000"/>
                      </a:solidFill>
                    </a:lnB>
                    <a:gradFill flip="none" rotWithShape="1">
                      <a:gsLst>
                        <a:gs pos="0">
                          <a:schemeClr val="accent3">
                            <a:lumOff val="44000"/>
                          </a:schemeClr>
                        </a:gs>
                        <a:gs pos="35000">
                          <a:schemeClr val="accent3">
                            <a:lumOff val="44000"/>
                          </a:schemeClr>
                        </a:gs>
                        <a:gs pos="100000">
                          <a:schemeClr val="accent3">
                            <a:lumOff val="44000"/>
                          </a:schemeClr>
                        </a:gs>
                      </a:gsLst>
                      <a:lin ang="16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2464333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ECHO" val="IAU6Hgl3"/>
  <p:tag name="ARTICULATE_PROJECT_OPEN" val="0"/>
  <p:tag name="ARTICULATE_SLIDE_COUNT" val="1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Echo">
  <a:themeElements>
    <a:clrScheme name="Echo">
      <a:dk1>
        <a:srgbClr val="336666"/>
      </a:dk1>
      <a:lt1>
        <a:srgbClr val="FFFFFF"/>
      </a:lt1>
      <a:dk2>
        <a:srgbClr val="A7A7A7"/>
      </a:dk2>
      <a:lt2>
        <a:srgbClr val="535353"/>
      </a:lt2>
      <a:accent1>
        <a:srgbClr val="99CCCC"/>
      </a:accent1>
      <a:accent2>
        <a:srgbClr val="CCCCCC"/>
      </a:accent2>
      <a:accent3>
        <a:srgbClr val="8F8F8F"/>
      </a:accent3>
      <a:accent4>
        <a:srgbClr val="2A5656"/>
      </a:accent4>
      <a:accent5>
        <a:srgbClr val="CAE2E2"/>
      </a:accent5>
      <a:accent6>
        <a:srgbClr val="B9B9B9"/>
      </a:accent6>
      <a:hlink>
        <a:srgbClr val="0000FF"/>
      </a:hlink>
      <a:folHlink>
        <a:srgbClr val="FF00FF"/>
      </a:folHlink>
    </a:clrScheme>
    <a:fontScheme name="Ech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Ech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33666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33666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Echo">
  <a:themeElements>
    <a:clrScheme name="Ech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CCCC"/>
      </a:accent1>
      <a:accent2>
        <a:srgbClr val="CCCCCC"/>
      </a:accent2>
      <a:accent3>
        <a:srgbClr val="8F8F8F"/>
      </a:accent3>
      <a:accent4>
        <a:srgbClr val="2A5656"/>
      </a:accent4>
      <a:accent5>
        <a:srgbClr val="CAE2E2"/>
      </a:accent5>
      <a:accent6>
        <a:srgbClr val="B9B9B9"/>
      </a:accent6>
      <a:hlink>
        <a:srgbClr val="0000FF"/>
      </a:hlink>
      <a:folHlink>
        <a:srgbClr val="FF00FF"/>
      </a:folHlink>
    </a:clrScheme>
    <a:fontScheme name="Echo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Ech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33666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336666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</TotalTime>
  <Words>635</Words>
  <Application>Microsoft Office PowerPoint</Application>
  <PresentationFormat>Widescreen</PresentationFormat>
  <Paragraphs>119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-apple-system</vt:lpstr>
      <vt:lpstr>Arial</vt:lpstr>
      <vt:lpstr>Calibri</vt:lpstr>
      <vt:lpstr>Source Sans Pro</vt:lpstr>
      <vt:lpstr>Echo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Brennan Davis</dc:creator>
  <cp:lastModifiedBy>Brennan Davis</cp:lastModifiedBy>
  <cp:revision>48</cp:revision>
  <dcterms:modified xsi:type="dcterms:W3CDTF">2025-11-10T20:06:45Z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024899D2-FB97-4052-B183-ED025E760760</vt:lpwstr>
  </property>
  <property fmtid="{D5CDD505-2E9C-101B-9397-08002B2CF9AE}" pid="3" name="ArticulatePath">
    <vt:lpwstr>MSBA information session</vt:lpwstr>
  </property>
</Properties>
</file>